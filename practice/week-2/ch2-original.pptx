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3"/>
    <p:restoredTop sz="94610"/>
  </p:normalViewPr>
  <p:slideViewPr>
    <p:cSldViewPr snapToGrid="0" snapToObjects="1">
      <p:cViewPr>
        <p:scale>
          <a:sx n="117" d="100"/>
          <a:sy n="117" d="100"/>
        </p:scale>
        <p:origin x="328" y="-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84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43000" y="1143000"/>
            <a:ext cx="1182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6FA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527113" y="1143000"/>
            <a:ext cx="26964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273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CAMP · 하네스 엔지니어링 완주반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143000" y="3654028"/>
            <a:ext cx="16482060" cy="21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218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</a:t>
            </a:r>
            <a:r>
              <a:rPr lang="en-US" sz="7800" b="1" kern="0" spc="-218" dirty="0">
                <a:solidFill>
                  <a:srgbClr val="6FA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에이전트에게 좋은 데이터 주기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143000" y="6076950"/>
            <a:ext cx="12753975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i="1" kern="0" spc="-24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도구를 다 켰다. 이제 AI가 모르는 것부터 알려준다.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9182100"/>
            <a:ext cx="25394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업무 하네스 구축 과정 · </a:t>
            </a:r>
            <a:r>
              <a:rPr lang="en-US" sz="1050" b="1" kern="0" spc="168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steps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962733" y="9182100"/>
            <a:ext cx="11602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</a:t>
            </a:r>
            <a:r>
              <a:rPr lang="en-US" sz="1050" b="1" kern="0" spc="168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</a:t>
            </a:r>
            <a:r>
              <a:rPr lang="en-US" sz="1050" kern="0" spc="168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06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580197" y="9182100"/>
            <a:ext cx="6410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 MIN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0532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RECAP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— 우리가 정한 것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129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하네스 = </a:t>
            </a:r>
            <a:r>
              <a:rPr lang="en-US" sz="4200" b="1" kern="0" spc="-9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</a:t>
            </a: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지시 체계 + 평가 루프.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3144738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3440013"/>
            <a:ext cx="12557760" cy="839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1주차에 여러분은 세 기둥을 정의하고 — 그 위에 올릴 </a:t>
            </a:r>
            <a:r>
              <a:rPr lang="en-US" i="1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 업무 1개 </a:t>
            </a: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골랐다.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 err="1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</a:t>
            </a: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 위에 한 겹씩 쌓는다. </a:t>
            </a:r>
            <a:r>
              <a:rPr lang="en-US" kern="0" spc="-6" dirty="0" err="1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</a:t>
            </a: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</a:t>
            </a: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컨텍스트.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143000" y="4929485"/>
            <a:ext cx="5156150" cy="1842939"/>
          </a:xfrm>
          <a:prstGeom prst="roundRect">
            <a:avLst>
              <a:gd name="adj" fmla="val 2067"/>
            </a:avLst>
          </a:prstGeom>
          <a:solidFill>
            <a:srgbClr val="E8F0FE"/>
          </a:solidFill>
          <a:ln w="9525">
            <a:solidFill>
              <a:srgbClr val="1A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95425" y="5281910"/>
            <a:ext cx="45848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기둥 01 · 오늘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495425" y="5672435"/>
            <a:ext cx="4584839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b="1" kern="0" spc="-5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495425" y="6221909"/>
            <a:ext cx="4584839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모르는 것 — 우리 일의 정답 예시를 보여준다.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65850" y="4929485"/>
            <a:ext cx="5156150" cy="1842939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918275" y="5281910"/>
            <a:ext cx="45848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기둥 02 · 다음 주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918275" y="5672435"/>
            <a:ext cx="4584839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b="1" kern="0" spc="-5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 체계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918275" y="6221909"/>
            <a:ext cx="4584839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일할지 — 역할·규칙·제약을 글로 박는다.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988701" y="4929485"/>
            <a:ext cx="5156150" cy="1842939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341126" y="5281910"/>
            <a:ext cx="45848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기둥 03 · 후반부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2341126" y="5672435"/>
            <a:ext cx="4584839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b="1" kern="0" spc="-5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루프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341126" y="6221909"/>
            <a:ext cx="4584839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같은 수준이 나오게 — 검토·수정·반영.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43000" y="7153424"/>
            <a:ext cx="16002000" cy="839093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52525" y="7162949"/>
            <a:ext cx="47625" cy="820043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504950" y="7366355"/>
            <a:ext cx="857956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</a:t>
            </a:r>
            <a:r>
              <a:rPr lang="en-US" i="1" kern="0" spc="-8" dirty="0" err="1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매트릭스의</a:t>
            </a: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b="1" kern="0" spc="-8" dirty="0" err="1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</a:t>
            </a:r>
            <a:r>
              <a:rPr lang="en-US" b="1" kern="0" spc="-8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위 한 점 </a:t>
            </a: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그 위에 한 겹씩 쌓는다. </a:t>
            </a:r>
            <a:r>
              <a:rPr lang="en-US" i="1" kern="0" spc="-8" dirty="0" err="1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</a:t>
            </a: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</a:t>
            </a: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</a:t>
            </a:r>
            <a:r>
              <a:rPr lang="en-US" b="1" kern="0" spc="-8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0532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RECAP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과제에서 본 것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667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된 절반 · </a:t>
            </a:r>
            <a:r>
              <a:rPr lang="en-US" sz="4200" b="1" kern="0" spc="-92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아쉬운 절반.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2515344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2810619"/>
            <a:ext cx="1255776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30여 분의 사후과제를 모두 읽었다.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 err="1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패턴은</a:t>
            </a: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둘로 갈렸다 — 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143000" y="3964930"/>
            <a:ext cx="7848600" cy="4253359"/>
          </a:xfrm>
          <a:prstGeom prst="roundRect">
            <a:avLst>
              <a:gd name="adj" fmla="val 896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533525" y="4355455"/>
            <a:ext cx="7279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8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된 것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33525" y="4846960"/>
            <a:ext cx="72795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42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발 더 들어간 흔적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43075" y="5266059"/>
            <a:ext cx="7070027" cy="914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할 일 / 사람이 할 일을 </a:t>
            </a: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명확히 나눈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43075" y="5865713"/>
            <a:ext cx="7070027" cy="914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산출물까지 적은 스코프 — "데모 1개, 로그인 5계정"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43075" y="6465367"/>
            <a:ext cx="7070027" cy="914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후보를 </a:t>
            </a: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디벨롭시킨 흔적 </a:t>
            </a:r>
            <a:r>
              <a:rPr lang="en-US" sz="16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대화 로그 첨부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43075" y="7065020"/>
            <a:ext cx="7070027" cy="914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이걸 골랐는지 — </a:t>
            </a: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근거 3줄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296400" y="3964930"/>
            <a:ext cx="7848600" cy="4253359"/>
          </a:xfrm>
          <a:prstGeom prst="roundRect">
            <a:avLst>
              <a:gd name="adj" fmla="val 896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686925" y="4355455"/>
            <a:ext cx="7279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8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아쉬운 것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86925" y="4846960"/>
            <a:ext cx="72795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42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전에 마무리할 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96475" y="5266059"/>
            <a:ext cx="7070027" cy="914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후보를 하나로 안 좁힘 — "둘 다 하고 싶다"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96475" y="5865713"/>
            <a:ext cx="7070027" cy="914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판단과 AI 추천이 엇갈리는데 </a:t>
            </a: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안 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96475" y="6465367"/>
            <a:ext cx="7070027" cy="914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사후과제 미제출 — </a:t>
            </a: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 확정 + 선정 이유서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96475" y="7065020"/>
            <a:ext cx="7070027" cy="914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2×2 매트릭스 빈칸 — "어디에 찍을지 모르겠다"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3000" y="8561189"/>
            <a:ext cx="16002000" cy="678061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143000" y="8561189"/>
            <a:ext cx="38100" cy="678061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47800" y="8665964"/>
            <a:ext cx="1591056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실습 전 — 5분. </a:t>
            </a:r>
            <a:r>
              <a:rPr lang="en-US" sz="1600" kern="0" spc="-6" dirty="0">
                <a:solidFill>
                  <a:srgbClr val="27272A"/>
                </a:solidFill>
                <a:highlight>
                  <a:srgbClr val="FEF3E2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미제출자는 타겟 1개 + 선정 이유 3줄을 채워서 [과제] 탭에. 그래야 오늘 골든 데이터를 어디에 만들지 정해진다.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0636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배울 것 — 5단계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129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1주차에 글로 쓴 계획 — 오늘 </a:t>
            </a:r>
            <a:r>
              <a:rPr lang="en-US" sz="4200" b="1" kern="0" spc="-9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형태를 가진다.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3144738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43000" y="4675287"/>
            <a:ext cx="9281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3000" y="3973413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28592" y="4012035"/>
            <a:ext cx="86961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-1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(다 같이)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28592" y="4278734"/>
            <a:ext cx="8696157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 -y @scaila/camp-cli@latest </a:t>
            </a: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환경점검 → 로그인 → 워크스페이스 → 에이전트.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43000" y="5710535"/>
            <a:ext cx="9281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43000" y="5008662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728592" y="5047284"/>
            <a:ext cx="86961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-1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scaffold — 내 MVP 폴더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28592" y="5313983"/>
            <a:ext cx="8696157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 @scaila/camp-cli scaffold my-mvp </a:t>
            </a: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1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plan.md 가 LMS 에서 자동으로 들어온다. </a:t>
            </a: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index.html + golden/ + CLAUDE.md.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6745784"/>
            <a:ext cx="9281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143000" y="6043910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728592" y="6082532"/>
            <a:ext cx="86961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-1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마스터 프롬프트로 채우기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28592" y="6349231"/>
            <a:ext cx="8696157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에게 — </a:t>
            </a:r>
            <a:r>
              <a:rPr lang="en-US" sz="1100" i="1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"plan.md 보고 index.html · spec.md · golden/ 을 내 자동화로 채워줘" </a:t>
            </a: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화면이 내 도메인으로 채워짐.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43000" y="7781032"/>
            <a:ext cx="9281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143000" y="7079159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728592" y="7117781"/>
            <a:ext cx="86961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-1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 데이터 넣기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28592" y="7384480"/>
            <a:ext cx="8696157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golden/input-example.md </a:t>
            </a: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r>
              <a:rPr lang="en-US" sz="11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output-example.md </a:t>
            </a: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실제 입력 1~3건 + 이상적 출력 1~2건.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8114407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728592" y="8153029"/>
            <a:ext cx="86961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-1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초안 → 격차 → 화면 확인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728592" y="8419728"/>
            <a:ext cx="8696157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 보고 첫 초안 → </a:t>
            </a:r>
            <a:r>
              <a:rPr lang="en-US" sz="11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outputs/draft-1.md </a:t>
            </a: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1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index.html </a:t>
            </a:r>
            <a:r>
              <a:rPr lang="en-US" sz="11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화면에서 확인 → 다음 주 입력.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57471" y="3821012"/>
            <a:ext cx="6187380" cy="3629621"/>
          </a:xfrm>
          <a:prstGeom prst="roundRect">
            <a:avLst>
              <a:gd name="adj" fmla="val 1235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252746" y="4135338"/>
            <a:ext cx="5764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2 · 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52746" y="4421088"/>
            <a:ext cx="5764735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줄로 — </a:t>
            </a:r>
            <a:r>
              <a:rPr lang="en-US" sz="1500" b="1" kern="0" spc="-6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plan.md(자동) + index.html + golden/ + outputs/draft-1.md.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252746" y="4767710"/>
            <a:ext cx="5764735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b="1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1주차의 글 → 60분 안에 보이는 MVP 골격.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252746" y="5460950"/>
            <a:ext cx="559683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1252746" y="5622875"/>
            <a:ext cx="5764735" cy="2301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825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참고 자료 · 4건 </a:t>
            </a:r>
          </a:p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ch2-workspace-guide.md </a:t>
            </a:r>
          </a:p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ch2-golden-data-template.md </a:t>
            </a:r>
          </a:p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ch2-claude-md-example.md </a:t>
            </a:r>
          </a:p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ch2-gap-analysis-worksheet.md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8530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WHY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컨텍스트가 1번째 기둥인가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129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프롬프트는 매번 처음부터. 하네스는 </a:t>
            </a:r>
            <a:r>
              <a:rPr lang="en-US" sz="4200" b="1" kern="0" spc="-9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세팅 후 반복.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3144738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3440013"/>
            <a:ext cx="12557760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1주차의 "프롬프트 vs 하네스" — 차이는 단 </a:t>
            </a:r>
            <a:r>
              <a:rPr lang="en-US" sz="1650" kern="0" spc="-6" dirty="0" err="1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</a:t>
            </a:r>
            <a:r>
              <a:rPr lang="en-US" sz="165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650" b="1" kern="0" spc="-6" dirty="0" err="1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컨텍스트가</a:t>
            </a:r>
            <a:r>
              <a:rPr lang="en-US" sz="165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어디에 있느냐. </a:t>
            </a:r>
            <a:r>
              <a:rPr lang="en-US" sz="165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채팅창에 새로 붙여넣느냐, 한 번 폴더에 박아두느냐.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4594324"/>
            <a:ext cx="5156150" cy="1842939"/>
          </a:xfrm>
          <a:prstGeom prst="roundRect">
            <a:avLst>
              <a:gd name="adj" fmla="val 2067"/>
            </a:avLst>
          </a:prstGeom>
          <a:solidFill>
            <a:srgbClr val="E8F0FE"/>
          </a:solidFill>
          <a:ln w="9525">
            <a:solidFill>
              <a:srgbClr val="1A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95425" y="4946749"/>
            <a:ext cx="45848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기둥 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495425" y="5337274"/>
            <a:ext cx="4584839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b="1" kern="0" spc="-51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495425" y="5886747"/>
            <a:ext cx="6050085" cy="361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모르는 우리 일의 정답 예시 —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세팅하면 영구.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65850" y="4594324"/>
            <a:ext cx="5156150" cy="1842939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918275" y="4946749"/>
            <a:ext cx="45848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기둥 02 · 3~4주차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918275" y="5337274"/>
            <a:ext cx="4584839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b="1" kern="0" spc="-5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 체계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918275" y="5886747"/>
            <a:ext cx="6050085" cy="361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 제약 조건 → 4주차 출력 제어.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어기면 안 되는 가드레일.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988701" y="4594324"/>
            <a:ext cx="5156150" cy="1842939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341126" y="4946749"/>
            <a:ext cx="45848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기둥 03 · 5주차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2341126" y="5337274"/>
            <a:ext cx="4584839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b="1" kern="0" spc="-5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루프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341126" y="5886747"/>
            <a:ext cx="6050085" cy="361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다중화 + 검토·수정 자동화. (6주차 = Demo Day · 운영.)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43000" y="6894463"/>
            <a:ext cx="16002000" cy="839093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52525" y="6903988"/>
            <a:ext cx="47625" cy="820043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504950" y="7083030"/>
            <a:ext cx="8292623" cy="431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b="1" kern="0" spc="-8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세상을 모른다. </a:t>
            </a: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"이 일의 정답이 이거다"를 보여줘야 한다 — 컨텍스트가 첫 기둥인 이유.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9710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WHAT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컨텍스트란 무엇인가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129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못하는 것 — </a:t>
            </a:r>
            <a:r>
              <a:rPr lang="en-US" sz="4200" b="1" kern="0" spc="-9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빈칸을 골든 데이터로 메운다.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3144738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3440013"/>
            <a:ext cx="12557760" cy="1163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1주차에서 본 "AI가 못하는 세 가지": 맥락 판단 · 최신 정보 · 우리 회사 사정.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 err="1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</a:t>
            </a: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 — </a:t>
            </a:r>
            <a:r>
              <a:rPr lang="en-US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예시 한 묶음</a:t>
            </a: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메워진다.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143000" y="4822924"/>
            <a:ext cx="4854773" cy="1633538"/>
          </a:xfrm>
          <a:prstGeom prst="roundRect">
            <a:avLst>
              <a:gd name="adj" fmla="val 2332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38275" y="5099149"/>
            <a:ext cx="43921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· 일반 능력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38275" y="5365849"/>
            <a:ext cx="43921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 처리 패턴 인식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38274" y="5820574"/>
            <a:ext cx="662964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평균. 우리 회사 톤은 모름.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"기획서 써줘" → 평균치를 뱉음.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88273" y="4822924"/>
            <a:ext cx="287536" cy="1671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kern="0" spc="-6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666309" y="4822924"/>
            <a:ext cx="4854773" cy="1633538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961584" y="5099149"/>
            <a:ext cx="43921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골든 데이터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61584" y="5365849"/>
            <a:ext cx="43921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일의 정답 예시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61583" y="5820574"/>
            <a:ext cx="662964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입력 3~5건 + 이상적 출력 1~2건. </a:t>
            </a:r>
            <a:b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400" b="1" kern="0" spc="-6" dirty="0" err="1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합의된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정답지.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11583" y="4822924"/>
            <a:ext cx="387995" cy="1671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kern="0" spc="-6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2290078" y="4822924"/>
            <a:ext cx="4854922" cy="1633538"/>
          </a:xfrm>
          <a:prstGeom prst="roundRect">
            <a:avLst>
              <a:gd name="adj" fmla="val 2332"/>
            </a:avLst>
          </a:prstGeom>
          <a:solidFill>
            <a:srgbClr val="E8F0FE"/>
          </a:solidFill>
          <a:ln w="9525">
            <a:solidFill>
              <a:srgbClr val="1A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585353" y="5099149"/>
            <a:ext cx="43923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이번 주 결과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585353" y="5365849"/>
            <a:ext cx="439230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kern="0" spc="-6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일에 쓸 수 있는 출력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585353" y="5820574"/>
            <a:ext cx="662987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새 채팅에서 시작하지 않는다.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kern="0" spc="-6" dirty="0" err="1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</a:t>
            </a:r>
            <a:r>
              <a:rPr lang="en-US" sz="14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번 만든 골든이 — 매번 자동 참조.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43000" y="6913662"/>
            <a:ext cx="16002000" cy="839093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152525" y="6923187"/>
            <a:ext cx="47625" cy="820043"/>
          </a:xfrm>
          <a:prstGeom prst="rect">
            <a:avLst/>
          </a:prstGeom>
          <a:solidFill>
            <a:srgbClr val="1A6F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504949" y="7065818"/>
            <a:ext cx="8197067" cy="686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= </a:t>
            </a:r>
            <a:r>
              <a:rPr lang="en-US" b="1" kern="0" spc="-8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"AI가 모르는 것"을 알려주는 것. </a:t>
            </a: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가장 강력한 형태가 — 골든 데이터.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118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DEFINE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 데이터란 무엇인가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129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이상적인 입력 한 묶음 + 그에 대한 </a:t>
            </a:r>
            <a:r>
              <a:rPr lang="en-US" sz="4200" b="1" kern="0" spc="-9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이상적인 출력 1~2건.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3144738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3440013"/>
            <a:ext cx="12557760" cy="1150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데모 — "주간 마케팅 성과 보고서 자동화" (가상 시나리오: 스타트링크 콘텐츠 마케터 3년차).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 err="1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</a:t>
            </a:r>
            <a:r>
              <a:rPr lang="en-US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잘 쓴 지난 보고서 3건 + 이번 주 raw 데이터 1건.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4929485"/>
            <a:ext cx="80644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GOLDEN · OUTPUT 예시 (4월 1주차)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5215235"/>
            <a:ext cx="7829550" cy="4753868"/>
          </a:xfrm>
          <a:prstGeom prst="roundRect">
            <a:avLst>
              <a:gd name="adj" fmla="val 801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19225" y="5453360"/>
            <a:ext cx="7495413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2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마케팅 성과 보고서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19225" y="6048970"/>
            <a:ext cx="727710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19225" y="5761881"/>
            <a:ext cx="749541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기간: 2026.03.31 ~ 04.04 · 작성자: 김서연 · 마케팅팀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419225" y="6191845"/>
            <a:ext cx="7495413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요약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419225" y="6453188"/>
            <a:ext cx="7495413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웹사이트 트래픽이 전주 대비 12% 증가했으며, 블로그 콘텐츠 3건 발행으로 오가닉 유입이 강세를 보였다…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419225" y="6790730"/>
            <a:ext cx="7495413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주요 지표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419225" y="7280672"/>
            <a:ext cx="272251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476375" y="7090172"/>
            <a:ext cx="26898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750" b="1" kern="0" spc="6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41738" y="7280672"/>
            <a:ext cx="153977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198888" y="7090172"/>
            <a:ext cx="15016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750" b="1" kern="0" spc="6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81514" y="7280672"/>
            <a:ext cx="1385739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738664" y="7090172"/>
            <a:ext cx="13476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750" b="1" kern="0" spc="6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전주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067252" y="7280672"/>
            <a:ext cx="162907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124402" y="7090172"/>
            <a:ext cx="15909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750" b="1" kern="0" spc="6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증감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419225" y="7539186"/>
            <a:ext cx="272251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476375" y="7328297"/>
            <a:ext cx="2689888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웹사이트 방문자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4141738" y="7539186"/>
            <a:ext cx="153977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198888" y="7328297"/>
            <a:ext cx="1501676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12,450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5681514" y="7539186"/>
            <a:ext cx="1385739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738664" y="7328297"/>
            <a:ext cx="1347639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11,116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7067252" y="7539186"/>
            <a:ext cx="162907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124402" y="7328297"/>
            <a:ext cx="159097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+12.0%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1419225" y="7797701"/>
            <a:ext cx="272251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476375" y="7586811"/>
            <a:ext cx="2689888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 PV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4141738" y="7797701"/>
            <a:ext cx="153977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198888" y="7586811"/>
            <a:ext cx="1501676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4,230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5681514" y="7797701"/>
            <a:ext cx="1385739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738664" y="7586811"/>
            <a:ext cx="1347639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3,890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7067252" y="7797701"/>
            <a:ext cx="162907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124402" y="7586811"/>
            <a:ext cx="159097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+8.7%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1419225" y="8056215"/>
            <a:ext cx="272251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476375" y="7845326"/>
            <a:ext cx="2689888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신청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4141738" y="8056215"/>
            <a:ext cx="153977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198888" y="7845326"/>
            <a:ext cx="1501676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23건</a:t>
            </a:r>
            <a:endParaRPr lang="en-US" sz="825" dirty="0"/>
          </a:p>
        </p:txBody>
      </p:sp>
      <p:sp>
        <p:nvSpPr>
          <p:cNvPr id="44" name="Shape 42"/>
          <p:cNvSpPr/>
          <p:nvPr/>
        </p:nvSpPr>
        <p:spPr>
          <a:xfrm>
            <a:off x="5681514" y="8056215"/>
            <a:ext cx="1385739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738664" y="7845326"/>
            <a:ext cx="1347639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24건</a:t>
            </a:r>
            <a:endParaRPr lang="en-US" sz="825" dirty="0"/>
          </a:p>
        </p:txBody>
      </p:sp>
      <p:sp>
        <p:nvSpPr>
          <p:cNvPr id="46" name="Shape 44"/>
          <p:cNvSpPr/>
          <p:nvPr/>
        </p:nvSpPr>
        <p:spPr>
          <a:xfrm>
            <a:off x="7067252" y="8056215"/>
            <a:ext cx="162907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7124402" y="7845326"/>
            <a:ext cx="159097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−4.2%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1419225" y="8314730"/>
            <a:ext cx="272251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476375" y="8103840"/>
            <a:ext cx="2689888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뉴스레터 구독</a:t>
            </a:r>
            <a:endParaRPr lang="en-US" sz="825" dirty="0"/>
          </a:p>
        </p:txBody>
      </p:sp>
      <p:sp>
        <p:nvSpPr>
          <p:cNvPr id="50" name="Shape 48"/>
          <p:cNvSpPr/>
          <p:nvPr/>
        </p:nvSpPr>
        <p:spPr>
          <a:xfrm>
            <a:off x="4141738" y="8314730"/>
            <a:ext cx="153977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198888" y="8103840"/>
            <a:ext cx="1501676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312명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5681514" y="8314730"/>
            <a:ext cx="1385739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738664" y="8103840"/>
            <a:ext cx="1347639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289명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7067252" y="8314730"/>
            <a:ext cx="162907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7124402" y="8103840"/>
            <a:ext cx="159097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+8.0%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1419225" y="8462367"/>
            <a:ext cx="7495413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핵심 인사이트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1419225" y="8723709"/>
            <a:ext cx="7495413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b="1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 SEO 효과 본격화: </a:t>
            </a:r>
            <a:r>
              <a:rPr lang="en-US" sz="97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3월 '2026 AI 트렌드' 시리즈가 검색 1페이지에 진입…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419225" y="9061252"/>
            <a:ext cx="7495413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다음 주 액션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1419225" y="9322594"/>
            <a:ext cx="7495413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랜딩페이지 CTA A/B 테스트 (화) ☐ '실전편' 블로그 발행 (수)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9315450" y="4929485"/>
            <a:ext cx="80644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9240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GOLDEN · INPUT 예시 (이번 주 RAW)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315450" y="5215235"/>
            <a:ext cx="7829550" cy="3333452"/>
          </a:xfrm>
          <a:prstGeom prst="roundRect">
            <a:avLst>
              <a:gd name="adj" fmla="val 1143"/>
            </a:avLst>
          </a:prstGeom>
          <a:solidFill>
            <a:srgbClr val="FEF3E2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9591675" y="5453360"/>
            <a:ext cx="7495413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200" b="1" kern="0" spc="-6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4월 4주차 raw 데이터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591675" y="6048970"/>
            <a:ext cx="727710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9591675" y="5761881"/>
            <a:ext cx="749541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기간: 2026.04.21 ~ 04.25 · 형식 그대로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9591675" y="6420445"/>
            <a:ext cx="348034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9648825" y="6229945"/>
            <a:ext cx="34704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750" b="1" kern="0" spc="6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3072021" y="6420445"/>
            <a:ext cx="184368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13129171" y="6229945"/>
            <a:ext cx="18055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750" b="1" kern="0" spc="6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4915704" y="6420445"/>
            <a:ext cx="1953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14972854" y="6229945"/>
            <a:ext cx="19149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750" b="1" kern="0" spc="6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전주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9591675" y="6678960"/>
            <a:ext cx="348034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9648825" y="6468070"/>
            <a:ext cx="3470456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웹사이트 방문자</a:t>
            </a:r>
            <a:endParaRPr lang="en-US" sz="825" dirty="0"/>
          </a:p>
        </p:txBody>
      </p:sp>
      <p:sp>
        <p:nvSpPr>
          <p:cNvPr id="73" name="Shape 71"/>
          <p:cNvSpPr/>
          <p:nvPr/>
        </p:nvSpPr>
        <p:spPr>
          <a:xfrm>
            <a:off x="13072021" y="6678960"/>
            <a:ext cx="184368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3129171" y="6468070"/>
            <a:ext cx="180558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13,100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14915704" y="6678960"/>
            <a:ext cx="1953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14972854" y="6468070"/>
            <a:ext cx="1914971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14,200</a:t>
            </a:r>
            <a:endParaRPr lang="en-US" sz="825" dirty="0"/>
          </a:p>
        </p:txBody>
      </p:sp>
      <p:sp>
        <p:nvSpPr>
          <p:cNvPr id="77" name="Shape 75"/>
          <p:cNvSpPr/>
          <p:nvPr/>
        </p:nvSpPr>
        <p:spPr>
          <a:xfrm>
            <a:off x="9591675" y="6937474"/>
            <a:ext cx="348034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9648825" y="6726585"/>
            <a:ext cx="3470456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 PV</a:t>
            </a:r>
            <a:endParaRPr lang="en-US" sz="825" dirty="0"/>
          </a:p>
        </p:txBody>
      </p:sp>
      <p:sp>
        <p:nvSpPr>
          <p:cNvPr id="79" name="Shape 77"/>
          <p:cNvSpPr/>
          <p:nvPr/>
        </p:nvSpPr>
        <p:spPr>
          <a:xfrm>
            <a:off x="13072021" y="6937474"/>
            <a:ext cx="184368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13129171" y="6726585"/>
            <a:ext cx="180558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4,890</a:t>
            </a:r>
            <a:endParaRPr lang="en-US" sz="825" dirty="0"/>
          </a:p>
        </p:txBody>
      </p:sp>
      <p:sp>
        <p:nvSpPr>
          <p:cNvPr id="81" name="Shape 79"/>
          <p:cNvSpPr/>
          <p:nvPr/>
        </p:nvSpPr>
        <p:spPr>
          <a:xfrm>
            <a:off x="14915704" y="6937474"/>
            <a:ext cx="1953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14972854" y="6726585"/>
            <a:ext cx="1914971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5,680</a:t>
            </a:r>
            <a:endParaRPr lang="en-US" sz="825" dirty="0"/>
          </a:p>
        </p:txBody>
      </p:sp>
      <p:sp>
        <p:nvSpPr>
          <p:cNvPr id="83" name="Shape 81"/>
          <p:cNvSpPr/>
          <p:nvPr/>
        </p:nvSpPr>
        <p:spPr>
          <a:xfrm>
            <a:off x="9591675" y="7195989"/>
            <a:ext cx="348034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9648825" y="6985099"/>
            <a:ext cx="3470456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신청</a:t>
            </a:r>
            <a:endParaRPr lang="en-US" sz="825" dirty="0"/>
          </a:p>
        </p:txBody>
      </p:sp>
      <p:sp>
        <p:nvSpPr>
          <p:cNvPr id="85" name="Shape 83"/>
          <p:cNvSpPr/>
          <p:nvPr/>
        </p:nvSpPr>
        <p:spPr>
          <a:xfrm>
            <a:off x="13072021" y="7195989"/>
            <a:ext cx="184368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13129171" y="6985099"/>
            <a:ext cx="180558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27건</a:t>
            </a:r>
            <a:endParaRPr lang="en-US" sz="825" dirty="0"/>
          </a:p>
        </p:txBody>
      </p:sp>
      <p:sp>
        <p:nvSpPr>
          <p:cNvPr id="87" name="Shape 85"/>
          <p:cNvSpPr/>
          <p:nvPr/>
        </p:nvSpPr>
        <p:spPr>
          <a:xfrm>
            <a:off x="14915704" y="7195989"/>
            <a:ext cx="1953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14972854" y="6985099"/>
            <a:ext cx="1914971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31건</a:t>
            </a:r>
            <a:endParaRPr lang="en-US" sz="825" dirty="0"/>
          </a:p>
        </p:txBody>
      </p:sp>
      <p:sp>
        <p:nvSpPr>
          <p:cNvPr id="89" name="Shape 87"/>
          <p:cNvSpPr/>
          <p:nvPr/>
        </p:nvSpPr>
        <p:spPr>
          <a:xfrm>
            <a:off x="9591675" y="7454503"/>
            <a:ext cx="348034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9648825" y="7243614"/>
            <a:ext cx="3470456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뉴스레터 구독</a:t>
            </a:r>
            <a:endParaRPr lang="en-US" sz="825" dirty="0"/>
          </a:p>
        </p:txBody>
      </p:sp>
      <p:sp>
        <p:nvSpPr>
          <p:cNvPr id="91" name="Shape 89"/>
          <p:cNvSpPr/>
          <p:nvPr/>
        </p:nvSpPr>
        <p:spPr>
          <a:xfrm>
            <a:off x="13072021" y="7454503"/>
            <a:ext cx="184368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13129171" y="7243614"/>
            <a:ext cx="180558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421명</a:t>
            </a:r>
            <a:endParaRPr lang="en-US" sz="825" dirty="0"/>
          </a:p>
        </p:txBody>
      </p:sp>
      <p:sp>
        <p:nvSpPr>
          <p:cNvPr id="93" name="Shape 91"/>
          <p:cNvSpPr/>
          <p:nvPr/>
        </p:nvSpPr>
        <p:spPr>
          <a:xfrm>
            <a:off x="14915704" y="7454503"/>
            <a:ext cx="1953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14972854" y="7243614"/>
            <a:ext cx="1914971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392명</a:t>
            </a:r>
            <a:endParaRPr lang="en-US" sz="825" dirty="0"/>
          </a:p>
        </p:txBody>
      </p:sp>
      <p:sp>
        <p:nvSpPr>
          <p:cNvPr id="95" name="Shape 93"/>
          <p:cNvSpPr/>
          <p:nvPr/>
        </p:nvSpPr>
        <p:spPr>
          <a:xfrm>
            <a:off x="9591675" y="7713018"/>
            <a:ext cx="3480346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/>
          <p:nvPr/>
        </p:nvSpPr>
        <p:spPr>
          <a:xfrm>
            <a:off x="9648825" y="7502128"/>
            <a:ext cx="3470456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팔로워</a:t>
            </a:r>
            <a:endParaRPr lang="en-US" sz="825" dirty="0"/>
          </a:p>
        </p:txBody>
      </p:sp>
      <p:sp>
        <p:nvSpPr>
          <p:cNvPr id="97" name="Shape 95"/>
          <p:cNvSpPr/>
          <p:nvPr/>
        </p:nvSpPr>
        <p:spPr>
          <a:xfrm>
            <a:off x="13072021" y="7713018"/>
            <a:ext cx="1843683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/>
          <p:nvPr/>
        </p:nvSpPr>
        <p:spPr>
          <a:xfrm>
            <a:off x="13129171" y="7502128"/>
            <a:ext cx="1805583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+210</a:t>
            </a:r>
            <a:endParaRPr lang="en-US" sz="825" dirty="0"/>
          </a:p>
        </p:txBody>
      </p:sp>
      <p:sp>
        <p:nvSpPr>
          <p:cNvPr id="99" name="Shape 97"/>
          <p:cNvSpPr/>
          <p:nvPr/>
        </p:nvSpPr>
        <p:spPr>
          <a:xfrm>
            <a:off x="14915704" y="7713018"/>
            <a:ext cx="1953071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/>
          <p:nvPr/>
        </p:nvSpPr>
        <p:spPr>
          <a:xfrm>
            <a:off x="14972854" y="7502128"/>
            <a:ext cx="1914971" cy="21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825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+320</a:t>
            </a:r>
            <a:endParaRPr lang="en-US" sz="825" dirty="0"/>
          </a:p>
        </p:txBody>
      </p:sp>
      <p:sp>
        <p:nvSpPr>
          <p:cNvPr id="101" name="Text 99"/>
          <p:cNvSpPr/>
          <p:nvPr/>
        </p:nvSpPr>
        <p:spPr>
          <a:xfrm>
            <a:off x="9591675" y="7860655"/>
            <a:ext cx="7495413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메모</a:t>
            </a:r>
            <a:endParaRPr lang="en-US" sz="975" dirty="0"/>
          </a:p>
        </p:txBody>
      </p:sp>
      <p:sp>
        <p:nvSpPr>
          <p:cNvPr id="102" name="Text 100"/>
          <p:cNvSpPr/>
          <p:nvPr/>
        </p:nvSpPr>
        <p:spPr>
          <a:xfrm>
            <a:off x="9591675" y="8121997"/>
            <a:ext cx="7495413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00" kern="0" spc="-6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시리즈 2편 발행 / 첫 웨비나 89명 / 뉴스레터 누적 4,100명 돌파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315450" y="8777288"/>
            <a:ext cx="7829550" cy="678061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9315450" y="8777288"/>
            <a:ext cx="38100" cy="678061"/>
          </a:xfrm>
          <a:prstGeom prst="rect">
            <a:avLst/>
          </a:prstGeom>
          <a:solidFill>
            <a:srgbClr val="1A6F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9620250" y="8751187"/>
            <a:ext cx="6589567" cy="689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공식: 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E8F0FE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 = 잘 쓴 결과물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 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E8F0FE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(output) + 이번 주 작업할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1건 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E8F0FE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(input).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400" kern="0" spc="-6" dirty="0" err="1">
                <a:solidFill>
                  <a:srgbClr val="27272A"/>
                </a:solidFill>
                <a:highlight>
                  <a:srgbClr val="E8F0FE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E8F0FE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형식이면 더 좋다.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2757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골든 데이터 VS 나쁜 골든 데이터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129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지저분해도 진짜. </a:t>
            </a:r>
            <a:r>
              <a:rPr lang="en-US" sz="4200" b="1" kern="0" spc="-92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예쁘게 가공한 건 가짜.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3144738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43000" y="4049613"/>
            <a:ext cx="7848600" cy="4168676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33525" y="4288631"/>
            <a:ext cx="7279577" cy="877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kern="0" spc="-8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33525" y="4769861"/>
            <a:ext cx="7279577" cy="58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kern="0" spc="42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우리 일을 학습하는 방향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43075" y="5183088"/>
            <a:ext cx="7070027" cy="745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형태 그대로 </a:t>
            </a:r>
            <a:r>
              <a:rPr lang="en-US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지저분해도 OK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43075" y="5924103"/>
            <a:ext cx="7070027" cy="745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충분한 양 — 입력 3~5건, 출력 1~2건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43075" y="6665118"/>
            <a:ext cx="7070027" cy="745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이상적인 출력</a:t>
            </a:r>
            <a:r>
              <a:rPr lang="en-US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들어 있음 — 직접 잘 쓴 결과물 1개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43075" y="7406134"/>
            <a:ext cx="7070027" cy="745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쉬운 케이스 + 까다로운 케이스 둘 다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296400" y="4049613"/>
            <a:ext cx="7848600" cy="4168676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686925" y="4288631"/>
            <a:ext cx="7279577" cy="877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kern="0" spc="-8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나쁨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686925" y="4769861"/>
            <a:ext cx="7279577" cy="58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kern="0" spc="42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평균치만 뱉게 되는 방향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96475" y="5183087"/>
            <a:ext cx="7070027" cy="652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막연히 "리뷰 데이터" 라고만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896475" y="5924102"/>
            <a:ext cx="7070027" cy="652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예쁘게 가공·요약한 데이터 </a:t>
            </a:r>
            <a:r>
              <a:rPr lang="en-US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진짜가 아님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896475" y="6665117"/>
            <a:ext cx="7070027" cy="652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예시 없음 — 에이전트가 목표를 모름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96475" y="7406133"/>
            <a:ext cx="7070027" cy="652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1개만 — 패턴이 안 잡힘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143000" y="8561189"/>
            <a:ext cx="16002000" cy="678061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43000" y="8561189"/>
            <a:ext cx="38100" cy="678061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47800" y="8561189"/>
            <a:ext cx="1591056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예시 · 온라인몰 CS 9년차 M.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75" kern="0" spc="-6" dirty="0" err="1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리뷰 20건 + 본인이 쓴 모범 답글 초안 2건 → </a:t>
            </a:r>
            <a:r>
              <a:rPr lang="en-US" sz="1275" b="1" kern="0" spc="-6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좋음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"리뷰 분류해줘"만 던지는 것 → </a:t>
            </a:r>
            <a:r>
              <a:rPr lang="en-US" sz="1275" b="1" kern="0" spc="-6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나쁨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7005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PRACTICE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① — CLAUDE CODE 또는 CODEX 설치 (다 같이)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667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줄로 시작한다.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2515344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43000" y="2877860"/>
            <a:ext cx="16002000" cy="1215330"/>
          </a:xfrm>
          <a:prstGeom prst="roundRect">
            <a:avLst>
              <a:gd name="adj" fmla="val 3135"/>
            </a:avLst>
          </a:prstGeom>
          <a:solidFill>
            <a:srgbClr val="1A1A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600200" y="3258860"/>
            <a:ext cx="1556766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kern="0" spc="-11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2100" kern="0" spc="-11" dirty="0">
                <a:solidFill>
                  <a:srgbClr val="E4E4E7"/>
                </a:solidFill>
                <a:highlight>
                  <a:srgbClr val="1A1A1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2100" kern="0" spc="-11" dirty="0">
                <a:solidFill>
                  <a:srgbClr val="6FA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</a:t>
            </a:r>
            <a:r>
              <a:rPr lang="en-US" sz="2100" kern="0" spc="-11" dirty="0">
                <a:solidFill>
                  <a:srgbClr val="E4E4E7"/>
                </a:solidFill>
                <a:highlight>
                  <a:srgbClr val="1A1A1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2100" kern="0" spc="-11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-y @scaila/camp-cli@latest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4555165"/>
            <a:ext cx="80840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그 한 줄이 하는 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4840915"/>
            <a:ext cx="7848600" cy="4778722"/>
          </a:xfrm>
          <a:prstGeom prst="roundRect">
            <a:avLst>
              <a:gd name="adj" fmla="val 797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400175" y="5699504"/>
            <a:ext cx="733425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00175" y="5040940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901904" y="5029755"/>
            <a:ext cx="6690932" cy="426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1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점검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01904" y="5258355"/>
            <a:ext cx="6690932" cy="429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 · Git · 쉘 자동 진단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00175" y="6672394"/>
            <a:ext cx="733425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00175" y="6013829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901904" y="6002644"/>
            <a:ext cx="6690932" cy="426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1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— 대시보드 [터미널] 탭 6자리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01904" y="6231244"/>
            <a:ext cx="6690932" cy="429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없이 6자리만 입력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00175" y="7645283"/>
            <a:ext cx="733425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400175" y="6986719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901904" y="6975534"/>
            <a:ext cx="6690932" cy="426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1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작업폴더 </a:t>
            </a:r>
            <a:r>
              <a:rPr lang="en-US" sz="1600" b="1" kern="0" spc="-10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ai-camp-week2/ </a:t>
            </a:r>
            <a:r>
              <a:rPr lang="en-US" sz="2000" b="1" kern="0" spc="-1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901904" y="7204134"/>
            <a:ext cx="6690932" cy="429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템플릿·README 자동 채움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00175" y="8618172"/>
            <a:ext cx="733425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00175" y="7959608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901904" y="7948423"/>
            <a:ext cx="6690932" cy="426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1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커뮤니티 첫 글 자동 작성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901904" y="8177023"/>
            <a:ext cx="6690932" cy="429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"2주차 시작합니다" 한 줄 보장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00175" y="8913447"/>
            <a:ext cx="685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⑤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901904" y="8902262"/>
            <a:ext cx="6690932" cy="426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1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/ Codex 진입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901904" y="9130862"/>
            <a:ext cx="6690932" cy="429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첫 대화창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96400" y="7719120"/>
            <a:ext cx="7848600" cy="1900517"/>
          </a:xfrm>
          <a:prstGeom prst="roundRect">
            <a:avLst>
              <a:gd name="adj" fmla="val 2801"/>
            </a:avLst>
          </a:prstGeom>
          <a:solidFill>
            <a:srgbClr val="E8F0FE"/>
          </a:solidFill>
          <a:ln w="9525">
            <a:solidFill>
              <a:srgbClr val="1A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534525" y="7919145"/>
            <a:ext cx="75935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그 다음 — SCAFFOLD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534525" y="8147745"/>
            <a:ext cx="7593521" cy="4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kern="0" spc="-6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npx @scaila/camp-cli scaffold my-mvp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34525" y="8452545"/>
            <a:ext cx="759352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MVP 폴더가 생긴다.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plan.md 에 1주차 제출물이 자동으로 </a:t>
            </a:r>
            <a:r>
              <a:rPr lang="en-US" sz="1400" b="1" kern="0" spc="-6" dirty="0" err="1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들어와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b="1" kern="0" spc="-6" dirty="0" err="1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있다</a:t>
            </a:r>
            <a:r>
              <a:rPr lang="en-US" altLang="ko-KR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br>
              <a:rPr lang="en-US" altLang="ko-KR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(LMS 에서 끌어옴 — 따로 복붙 안 해도 됨). 1주차 과제 미제출자는 plan.md 가 빈 양식이니 거기 붙여넣기만.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296400" y="4940350"/>
            <a:ext cx="7848600" cy="678061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296400" y="4940350"/>
            <a:ext cx="38100" cy="678061"/>
          </a:xfrm>
          <a:prstGeom prst="rect">
            <a:avLst/>
          </a:prstGeom>
          <a:solidFill>
            <a:srgbClr val="1A6F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601200" y="5149900"/>
            <a:ext cx="7512558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막히면. </a:t>
            </a:r>
            <a:r>
              <a:rPr lang="ko-KR" altLang="en-US" sz="12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en-US" sz="1275" kern="0" spc="-6" dirty="0" err="1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</a:t>
            </a:r>
            <a:r>
              <a:rPr lang="en-US" sz="1275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-y @scaila/camp-cli@latest doctor 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E8F0FE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환경 자동 진단 + 해결 가이드.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9296400" y="5751761"/>
            <a:ext cx="7848600" cy="678061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296400" y="5751761"/>
            <a:ext cx="38100" cy="678061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601200" y="5961311"/>
            <a:ext cx="7512558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어려우면. 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EF3E2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목요일 18:30 도착하시면 — 강의 시작 전 1:1로 도와드립니다.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9296400" y="6563171"/>
            <a:ext cx="7848600" cy="678061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9296400" y="6563171"/>
            <a:ext cx="38100" cy="678061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9601200" y="6772721"/>
            <a:ext cx="7512558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Node가 없으면. </a:t>
            </a:r>
            <a:r>
              <a:rPr lang="en-US" sz="1275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nodejs.org 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LTS 설치. </a:t>
            </a:r>
            <a:r>
              <a:rPr lang="en-US" sz="1275" kern="0" spc="-6" dirty="0" err="1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mac은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75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brew install node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72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PRACTICE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② — 골든 데이터 넣기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667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파일이면 끝난다.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2515344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3420219"/>
            <a:ext cx="80055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FOLDER · 본인 작업 폴더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3705969"/>
            <a:ext cx="7772400" cy="3209330"/>
          </a:xfrm>
          <a:prstGeom prst="roundRect">
            <a:avLst>
              <a:gd name="adj" fmla="val 1187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76375" y="3963144"/>
            <a:ext cx="4880180" cy="273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75" b="1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my-mvp/ </a:t>
            </a:r>
          </a:p>
          <a:p>
            <a:pPr marL="0" indent="0" algn="l">
              <a:lnSpc>
                <a:spcPct val="185000"/>
              </a:lnSpc>
              <a:buNone/>
            </a:pP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</a:t>
            </a:r>
            <a:r>
              <a:rPr lang="en-US" sz="1275" kern="0" spc="-6" dirty="0" err="1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plan.md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</a:t>
            </a:r>
            <a: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1주차 계획 (자동) </a:t>
            </a:r>
            <a:b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</a:t>
            </a:r>
            <a:r>
              <a:rPr lang="en-US" sz="1275" kern="0" spc="-6" dirty="0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index.html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</a:t>
            </a:r>
            <a: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1페이지 MVP </a:t>
            </a:r>
            <a:r>
              <a:rPr lang="en-US" sz="1275" i="1" kern="0" spc="-6" dirty="0" err="1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골격</a:t>
            </a:r>
            <a: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b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</a:t>
            </a:r>
            <a:r>
              <a:rPr lang="en-US" sz="1275" b="1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golden/ </a:t>
            </a:r>
            <a:br>
              <a:rPr lang="en-US" sz="1275" b="1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</a:t>
            </a:r>
            <a:r>
              <a:rPr lang="en-US" sz="1275" kern="0" spc="-6" dirty="0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input-example.md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</a:t>
            </a:r>
            <a: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실제 입력 1~3건 </a:t>
            </a:r>
            <a:b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└─ </a:t>
            </a:r>
            <a:r>
              <a:rPr lang="en-US" sz="1275" kern="0" spc="-6" dirty="0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output-example.md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이상적 출력 1~2건 </a:t>
            </a:r>
            <a:b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</a:t>
            </a:r>
            <a:r>
              <a:rPr lang="en-US" sz="1275" b="1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outputs/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</a:t>
            </a:r>
            <a: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첫 초안 </a:t>
            </a:r>
            <a:r>
              <a:rPr lang="en-US" sz="1275" i="1" kern="0" spc="-6" dirty="0" err="1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자리</a:t>
            </a:r>
            <a: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br>
              <a:rPr lang="en-US" sz="1275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</a:t>
            </a:r>
            <a:r>
              <a:rPr lang="en-US" sz="1275" kern="0" spc="-6" dirty="0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spec.md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1275" kern="0" spc="-6" dirty="0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1275" b="1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.harness/ </a:t>
            </a:r>
            <a:br>
              <a:rPr lang="en-US" sz="1275" b="1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1275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 </a:t>
            </a:r>
            <a:r>
              <a:rPr lang="en-US" sz="1275" kern="0" spc="-6" dirty="0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1143000" y="7143899"/>
            <a:ext cx="7772400" cy="678061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43000" y="7143899"/>
            <a:ext cx="38100" cy="678061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47800" y="7172475"/>
            <a:ext cx="7434072" cy="599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과제 — 골든 1세트. </a:t>
            </a:r>
            <a:r>
              <a:rPr lang="en-US" sz="16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예시 1~3건 · 출력 예시 1~2건. 형식 그대로. 가공 금지.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72600" y="3420219"/>
            <a:ext cx="80055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막히면 — CLAUDE CODE에게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72600" y="3705969"/>
            <a:ext cx="7772400" cy="2000250"/>
          </a:xfrm>
          <a:prstGeom prst="roundRect">
            <a:avLst>
              <a:gd name="adj" fmla="val 2198"/>
            </a:avLst>
          </a:prstGeom>
          <a:solidFill>
            <a:srgbClr val="1A1A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15500" y="3972669"/>
            <a:ext cx="7319772" cy="1501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600" kern="0" spc="-7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r>
              <a:rPr lang="en-US" sz="1600" kern="0" spc="-7" dirty="0">
                <a:solidFill>
                  <a:srgbClr val="E4E4E7"/>
                </a:solidFill>
                <a:highlight>
                  <a:srgbClr val="1A1A1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600" kern="0" spc="-7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내 과제는 </a:t>
            </a:r>
            <a:r>
              <a:rPr lang="en-US" sz="1600" kern="0" spc="-7" dirty="0">
                <a:solidFill>
                  <a:srgbClr val="A7E8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"주간 마케팅 보고서 자동화" </a:t>
            </a:r>
            <a:r>
              <a:rPr lang="en-US" sz="1600" kern="0" spc="-7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야.</a:t>
            </a:r>
            <a:endParaRPr lang="en-US" sz="1600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1600" kern="0" spc="-7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골든 데이터를 입력 · 출력 각각</a:t>
            </a:r>
            <a:endParaRPr lang="en-US" sz="1600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1600" kern="0" spc="-7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어떤 형태로 만들면 좋을지</a:t>
            </a:r>
            <a:endParaRPr lang="en-US" sz="1600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1600" kern="0" spc="-7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같이 정리해줘.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72600" y="5878860"/>
            <a:ext cx="7772400" cy="815280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591675" y="6059835"/>
            <a:ext cx="7567422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b="1" kern="0" spc="42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참고 자료: </a:t>
            </a:r>
            <a:r>
              <a:rPr lang="en-US" sz="1400" kern="0" spc="42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ch2-golden-data-template.md </a:t>
            </a:r>
            <a:r>
              <a:rPr lang="en-US" sz="1400" kern="0" spc="42" dirty="0">
                <a:solidFill>
                  <a:srgbClr val="71717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6개 직무 골든 템플릿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7241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PRACTICE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③ — 마스터 프롬프트로 화면 채우기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129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600" b="1" kern="0" spc="-92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plan.md </a:t>
            </a: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입력. </a:t>
            </a:r>
            <a:r>
              <a:rPr lang="en-US" sz="3600" b="1" kern="0" spc="-92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 </a:t>
            </a: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그걸 </a:t>
            </a:r>
            <a:r>
              <a:rPr lang="en-US" sz="4200" b="1" kern="0" spc="-9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바꾼다.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3144738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43000" y="3821013"/>
            <a:ext cx="4854773" cy="1847850"/>
          </a:xfrm>
          <a:prstGeom prst="roundRect">
            <a:avLst>
              <a:gd name="adj" fmla="val 2062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38275" y="4097238"/>
            <a:ext cx="43921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입력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38275" y="4363938"/>
            <a:ext cx="43921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plan.md (1주차 계획)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38275" y="4964013"/>
            <a:ext cx="43921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scaffold 가 LMS에서 자동으로 끌어와 넣어둔 1주차 제출물.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188273" y="3821013"/>
            <a:ext cx="287536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kern="0" spc="-6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666309" y="3821013"/>
            <a:ext cx="4854773" cy="184785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961584" y="4097238"/>
            <a:ext cx="43921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마스터 프롬프트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61584" y="4363938"/>
            <a:ext cx="43921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(scaffold 기본)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961584" y="4964013"/>
            <a:ext cx="43921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"plan.md 보고 index.html · spec.md · golden/ 을 내 자동화로 채워줘" — Claude Code에 발주.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1711583" y="3821013"/>
            <a:ext cx="387995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kern="0" spc="-6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2290078" y="3821013"/>
            <a:ext cx="4854922" cy="1847850"/>
          </a:xfrm>
          <a:prstGeom prst="roundRect">
            <a:avLst>
              <a:gd name="adj" fmla="val 2062"/>
            </a:avLst>
          </a:prstGeom>
          <a:solidFill>
            <a:srgbClr val="E8F0FE"/>
          </a:solidFill>
          <a:ln w="9525">
            <a:solidFill>
              <a:srgbClr val="1A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585353" y="4097238"/>
            <a:ext cx="43923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585353" y="4363938"/>
            <a:ext cx="439230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kern="0" spc="-6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index.html 내 도메인으로 채움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585353" y="4964013"/>
            <a:ext cx="439230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서비스명 · 입력 라벨 · 출력 형식 · 샘플이 — </a:t>
            </a:r>
            <a:r>
              <a:rPr lang="en-US" sz="112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일</a:t>
            </a:r>
            <a:r>
              <a:rPr lang="en-US" sz="1125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바뀌어 있다.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143000" y="5973663"/>
            <a:ext cx="80840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마스터 프롬프트가 시키는 5가지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43000" y="6240363"/>
            <a:ext cx="7848600" cy="2389287"/>
          </a:xfrm>
          <a:prstGeom prst="roundRect">
            <a:avLst>
              <a:gd name="adj" fmla="val 2432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00175" y="6440388"/>
            <a:ext cx="6534457" cy="2009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r>
              <a:rPr lang="en-US" sz="1400" b="1" kern="0" spc="-6" dirty="0" err="1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plan.md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kern="0" spc="-6" dirty="0" err="1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75000"/>
              </a:lnSpc>
              <a:buNone/>
            </a:pP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spec.md 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A · B · C · F 섹션 </a:t>
            </a:r>
            <a:r>
              <a:rPr lang="en-US" sz="1400" kern="0" spc="-6" dirty="0" err="1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채우기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75000"/>
              </a:lnSpc>
              <a:buNone/>
            </a:pP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index.html 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[SERVICE_NAME] · [INPUT_LABEL] · [OUTPUT_TITLE] · 샘플 </a:t>
            </a:r>
            <a:r>
              <a:rPr lang="en-US" sz="1400" kern="0" spc="-6" dirty="0" err="1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채우기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75000"/>
              </a:lnSpc>
              <a:buNone/>
            </a:pP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golden/ 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자리 만들고 안내 주석 </a:t>
            </a:r>
            <a:r>
              <a:rPr lang="en-US" sz="1400" kern="0" spc="-6" dirty="0" err="1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75000"/>
              </a:lnSpc>
              <a:buNone/>
            </a:pP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초안 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96400" y="5973663"/>
            <a:ext cx="7848600" cy="937022"/>
          </a:xfrm>
          <a:prstGeom prst="rect">
            <a:avLst/>
          </a:prstGeom>
          <a:solidFill>
            <a:srgbClr val="FE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296400" y="5973663"/>
            <a:ext cx="38100" cy="93702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601200" y="6183213"/>
            <a:ext cx="7512558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화면은 1페이지 골격. 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EE7E7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라우팅 · DB · 로그인 · 어드민은 5~6주차.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75" b="1" kern="0" spc="-6" dirty="0" err="1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</a:t>
            </a:r>
            <a:r>
              <a:rPr lang="en-US" sz="1275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시스템에 직접 게시·제출하는 코드는 금지 </a:t>
            </a:r>
            <a:r>
              <a:rPr lang="en-US" sz="1275" kern="0" spc="-6" dirty="0">
                <a:solidFill>
                  <a:srgbClr val="27272A"/>
                </a:solidFill>
                <a:highlight>
                  <a:srgbClr val="FEE7E7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출력 화면 표시까지만.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143000" y="9077325"/>
            <a:ext cx="164820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참고 — </a:t>
            </a:r>
            <a:r>
              <a:rPr lang="en-US" sz="975" kern="0" spc="3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ch2-claude-md-example.md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3220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PRACTICE 04 ·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④ · ⑤ — 첫 초안 + 격차 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667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번의 발주로 끝낸다.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2515344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3154261"/>
            <a:ext cx="8084058" cy="456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kern="0" spc="180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 첫 초안 — CLAUDE CODE 발주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3744069"/>
            <a:ext cx="7848600" cy="2163813"/>
          </a:xfrm>
          <a:prstGeom prst="roundRect">
            <a:avLst>
              <a:gd name="adj" fmla="val 2908"/>
            </a:avLst>
          </a:prstGeom>
          <a:solidFill>
            <a:srgbClr val="1A1A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85900" y="4010769"/>
            <a:ext cx="7398258" cy="150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r>
              <a:rPr lang="en-US" sz="1400" kern="0" spc="-6" dirty="0">
                <a:solidFill>
                  <a:srgbClr val="E4E4E7"/>
                </a:solidFill>
                <a:highlight>
                  <a:srgbClr val="1A1A1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400" kern="0" spc="-6" dirty="0">
                <a:solidFill>
                  <a:srgbClr val="A7E8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golden/ </a:t>
            </a: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의 input · output 보고,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새 입력에 대한 첫 초안 만들어줘.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kern="0" spc="-6" dirty="0">
                <a:solidFill>
                  <a:srgbClr val="A7E8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outputs/draft-1.md</a:t>
            </a: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로 저장.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" y="6126957"/>
            <a:ext cx="7848600" cy="817066"/>
          </a:xfrm>
          <a:prstGeom prst="roundRect">
            <a:avLst>
              <a:gd name="adj" fmla="val 4663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62075" y="6288882"/>
            <a:ext cx="7645908" cy="53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600" b="1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outputs/ </a:t>
            </a:r>
            <a:r>
              <a:rPr lang="en-US" sz="1600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 </a:t>
            </a:r>
            <a:r>
              <a:rPr lang="en-US" sz="1600" kern="0" spc="-6" dirty="0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draft-1.md</a:t>
            </a:r>
            <a:r>
              <a:rPr lang="en-US" sz="1600" kern="0" spc="-6" dirty="0">
                <a:solidFill>
                  <a:srgbClr val="27272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1600" i="1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60점짜리 초안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7115473"/>
            <a:ext cx="7848600" cy="4838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3000" y="7115473"/>
            <a:ext cx="38100" cy="483840"/>
          </a:xfrm>
          <a:prstGeom prst="rect">
            <a:avLst/>
          </a:prstGeom>
          <a:solidFill>
            <a:srgbClr val="1A6F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71600" y="7127473"/>
            <a:ext cx="7664958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0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index.html 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E8F0FE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출력 패널에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draft-1 </a:t>
            </a:r>
            <a:r>
              <a:rPr lang="en-US" sz="1400" kern="0" spc="-6" dirty="0">
                <a:solidFill>
                  <a:srgbClr val="27272A"/>
                </a:solidFill>
                <a:highlight>
                  <a:srgbClr val="E8F0FE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뜬다. </a:t>
            </a:r>
            <a:r>
              <a:rPr lang="en-US" sz="14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자동화의 첫 모습.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96400" y="3154261"/>
            <a:ext cx="8084058" cy="456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kern="0" spc="18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⑤ 격차 분석 — 같은 대화 이어서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96400" y="3744069"/>
            <a:ext cx="7848600" cy="4094113"/>
          </a:xfrm>
          <a:prstGeom prst="roundRect">
            <a:avLst>
              <a:gd name="adj" fmla="val 931"/>
            </a:avLst>
          </a:prstGeom>
          <a:solidFill>
            <a:srgbClr val="1A1A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39300" y="4010769"/>
            <a:ext cx="7398258" cy="359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r>
              <a:rPr lang="en-US" sz="1400" kern="0" spc="-6" dirty="0">
                <a:solidFill>
                  <a:srgbClr val="E4E4E7"/>
                </a:solidFill>
                <a:highlight>
                  <a:srgbClr val="1A1A1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방금 초안 ↔ </a:t>
            </a:r>
            <a:r>
              <a:rPr lang="en-US" sz="1400" kern="0" spc="-6" dirty="0">
                <a:solidFill>
                  <a:srgbClr val="A7E8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golden/output </a:t>
            </a: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5가지로 비교: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1) 빠진 정보   2) 구조 차이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3) 톤 차이      4) 사실 오류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5) AI ↔ 사람 경계 위반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kern="0" spc="-6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각 항목 1줄 코멘트 · 점수 (1~10).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6400" y="8009632"/>
            <a:ext cx="80840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참고 — </a:t>
            </a:r>
            <a:r>
              <a:rPr lang="en-US" sz="975" kern="0" spc="39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ch2-gap-analysis-worksheet.md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143000" y="8400157"/>
            <a:ext cx="16002000" cy="839093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2525" y="8409682"/>
            <a:ext cx="47625" cy="820043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504950" y="8583608"/>
            <a:ext cx="7876556" cy="820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격차가 — </a:t>
            </a:r>
            <a:r>
              <a:rPr lang="en-US" b="1" kern="0" spc="-8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'제약 조건'의 입력</a:t>
            </a:r>
            <a:r>
              <a:rPr lang="en-US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이다. 7점 미만 항목 → 3주차 규칙으로 변환.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0609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스코프 경계 — 자동화가 안 되는 모양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657350"/>
            <a:ext cx="16482060" cy="667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넣는 부분은 </a:t>
            </a:r>
            <a:r>
              <a:rPr lang="en-US" sz="4200" b="1" kern="0" spc="-92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빼라.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2515344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2810619"/>
            <a:ext cx="1255776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자동화는 — </a:t>
            </a:r>
            <a:r>
              <a:rPr lang="en-US" sz="165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준비까지</a:t>
            </a:r>
            <a:r>
              <a:rPr lang="en-US" sz="1650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그 다음 실제 제출·업로드·거래는 사람이 한다. 이번 6주 동안 가르치지 않는 5유형을 먼저 정리한다.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964930"/>
            <a:ext cx="7616428" cy="137160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9525">
            <a:solidFill>
              <a:srgbClr val="1A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38275" y="4241155"/>
            <a:ext cx="72366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우리 자동화 (이번 6주)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38275" y="4507855"/>
            <a:ext cx="72366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kern="0" spc="-6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준비까지 ✓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38275" y="4845993"/>
            <a:ext cx="72366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 → 초안 → 검토 → 최종본까지 생성. 사람이 한 번 보고 OK 누르기 직전 단계.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949928" y="3964930"/>
            <a:ext cx="38799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kern="0" spc="-6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528423" y="3964930"/>
            <a:ext cx="7616577" cy="1371600"/>
          </a:xfrm>
          <a:prstGeom prst="roundRect">
            <a:avLst>
              <a:gd name="adj" fmla="val 2778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823698" y="4241155"/>
            <a:ext cx="72368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사람 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23698" y="4507855"/>
            <a:ext cx="723680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제출 · 업로드 · 거래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823698" y="4845993"/>
            <a:ext cx="723680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정부사이트 · ERP · 증권사 — 책임 따르는 최종 행위는 사람이 누른다.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143000" y="5679430"/>
            <a:ext cx="3078361" cy="1540521"/>
          </a:xfrm>
          <a:prstGeom prst="roundRect">
            <a:avLst>
              <a:gd name="adj" fmla="val 3883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23975" y="5860405"/>
            <a:ext cx="279790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kern="0" spc="132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못 다룸 ①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323975" y="6074718"/>
            <a:ext cx="279790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/ 저지연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3975" y="6522393"/>
            <a:ext cx="252876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 주문 · 입찰 · 경매. 0.1초 지연도 손실.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73761" y="5679430"/>
            <a:ext cx="3078510" cy="1540521"/>
          </a:xfrm>
          <a:prstGeom prst="roundRect">
            <a:avLst>
              <a:gd name="adj" fmla="val 3883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54736" y="5860405"/>
            <a:ext cx="27980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kern="0" spc="132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못 다룸 ②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554736" y="6074718"/>
            <a:ext cx="27980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폐쇄 RPA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54736" y="6522393"/>
            <a:ext cx="279805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공인인증서 · 캡차. 정부·은행 사이트 자동 조작.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04671" y="5679430"/>
            <a:ext cx="3078510" cy="1540521"/>
          </a:xfrm>
          <a:prstGeom prst="roundRect">
            <a:avLst>
              <a:gd name="adj" fmla="val 3883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85646" y="5860405"/>
            <a:ext cx="27980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kern="0" spc="132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못 다룸 ③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785646" y="6074718"/>
            <a:ext cx="27980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책임 행위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85646" y="6522393"/>
            <a:ext cx="24087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신고 · 계약 체결. 사람이 최종 서명.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835580" y="5679430"/>
            <a:ext cx="3078510" cy="1540521"/>
          </a:xfrm>
          <a:prstGeom prst="roundRect">
            <a:avLst>
              <a:gd name="adj" fmla="val 3883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1016555" y="5860405"/>
            <a:ext cx="27980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kern="0" spc="132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못 다룸 ④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1016555" y="6074718"/>
            <a:ext cx="27980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 세계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16555" y="6522393"/>
            <a:ext cx="2575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택배 발송 · 매장 입고. 손이 필요한 모든 것.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066490" y="5679430"/>
            <a:ext cx="3078510" cy="1540521"/>
          </a:xfrm>
          <a:prstGeom prst="roundRect">
            <a:avLst>
              <a:gd name="adj" fmla="val 3883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4247465" y="5860405"/>
            <a:ext cx="27980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kern="0" spc="132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못 다룸 ⑤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4247465" y="6074718"/>
            <a:ext cx="27980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ML 학습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247465" y="6522393"/>
            <a:ext cx="241527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 · 모델 훈련. 데이터·GPU 별도.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43000" y="8124826"/>
            <a:ext cx="16002000" cy="678061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000" y="8124826"/>
            <a:ext cx="38100" cy="678061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447800" y="8262256"/>
            <a:ext cx="15910560" cy="581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예시 · 노무사 K. </a:t>
            </a:r>
            <a:r>
              <a:rPr lang="en-US" sz="16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"고용지원금 자동 검토"까지는 ✓ — 요건 매칭, 필요 서류 정리, 신청서 초안 작성. </a:t>
            </a:r>
            <a:r>
              <a:rPr lang="en-US" sz="1600" b="1" kern="0" spc="-6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"자동 신고"는 ✗ </a:t>
            </a:r>
            <a:r>
              <a:rPr lang="en-US" sz="1600" kern="0" spc="-6" dirty="0">
                <a:solidFill>
                  <a:srgbClr val="27272A"/>
                </a:solidFill>
                <a:highlight>
                  <a:srgbClr val="F4F1E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사람이 직접 정부24에 제출.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11">
            <a:extLst>
              <a:ext uri="{FF2B5EF4-FFF2-40B4-BE49-F238E27FC236}">
                <a16:creationId xmlns:a16="http://schemas.microsoft.com/office/drawing/2014/main" id="{ECAFE74D-BE91-5C54-6FC5-4D722AA143CD}"/>
              </a:ext>
            </a:extLst>
          </p:cNvPr>
          <p:cNvSpPr/>
          <p:nvPr/>
        </p:nvSpPr>
        <p:spPr>
          <a:xfrm>
            <a:off x="11988701" y="3077319"/>
            <a:ext cx="5156150" cy="2431852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77D553B2-96CD-FE72-2689-14D6379F696E}"/>
              </a:ext>
            </a:extLst>
          </p:cNvPr>
          <p:cNvSpPr/>
          <p:nvPr/>
        </p:nvSpPr>
        <p:spPr>
          <a:xfrm>
            <a:off x="12283976" y="4956721"/>
            <a:ext cx="456560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762000" y="533400"/>
            <a:ext cx="32967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 · HOMEWORK ·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042160" y="9686925"/>
            <a:ext cx="560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</a:t>
            </a:r>
            <a:r>
              <a:rPr lang="en-US" sz="975" kern="0" spc="78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143000" y="11430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과제 + 다음 주 예고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466850"/>
            <a:ext cx="16482060" cy="667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200" b="1" kern="0" spc="-92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— </a:t>
            </a:r>
            <a:r>
              <a:rPr lang="en-US" sz="4200" b="1" kern="0" spc="-92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사이클을 손에 익힌다.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2324844"/>
            <a:ext cx="609600" cy="2857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43000" y="3077319"/>
            <a:ext cx="5156150" cy="2431852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1438275" y="3391644"/>
            <a:ext cx="47025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 · 사전 (미제출자)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38275" y="3677394"/>
            <a:ext cx="4702568" cy="574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 1개 확정 + 골든 데이터 1세트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38275" y="4119265"/>
            <a:ext cx="4702568" cy="704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사후과제를 마무리. 후보 1개로 좁히고 — 선정 이유 3줄.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400" kern="0" spc="-6" dirty="0" err="1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</a:t>
            </a: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입력 1~3건 + 출력 1건 수집.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38275" y="4956721"/>
            <a:ext cx="456560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38275" y="5166271"/>
            <a:ext cx="4702568" cy="217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camp.scaila.kr [과제] 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65850" y="3077319"/>
            <a:ext cx="5156150" cy="2431852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61125" y="3391644"/>
            <a:ext cx="47025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· 주차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61125" y="3677394"/>
            <a:ext cx="4702568" cy="574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scaffold + 마스터 프롬프트 + 첫 초안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861125" y="4119265"/>
            <a:ext cx="4702568" cy="704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my-mvp/ </a:t>
            </a: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— 마스터 프롬프트로 </a:t>
            </a:r>
            <a:r>
              <a:rPr lang="en-US" sz="105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index.html </a:t>
            </a: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05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spec.md </a:t>
            </a: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채움 +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400" kern="0" spc="-6" dirty="0" err="1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</a:t>
            </a: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kern="0" spc="-6" dirty="0" err="1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</a:t>
            </a: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r>
              <a:rPr lang="en-US" sz="1050" kern="0" spc="-6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outputs/draft-1.md</a:t>
            </a: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61125" y="4956721"/>
            <a:ext cx="4565600" cy="9525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61125" y="5166271"/>
            <a:ext cx="4702568" cy="217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outputs/draft-1.md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283976" y="3391644"/>
            <a:ext cx="47025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9240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· 사후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283976" y="3677394"/>
            <a:ext cx="4702568" cy="574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b="1" kern="0" spc="-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격차 분석 워크시트 (A4 1매)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283976" y="4119265"/>
            <a:ext cx="4702568" cy="379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↔ 골든 5기준 비교. 7점 미만 항목 </a:t>
            </a:r>
            <a:r>
              <a:rPr lang="en-US" sz="1400" kern="0" spc="-6" dirty="0" err="1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b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400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1400" b="1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'제약 조건'의 원료.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283976" y="5166271"/>
            <a:ext cx="4702568" cy="217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kern="0" spc="-6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outputs/gap-analysis.md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43000" y="5852071"/>
            <a:ext cx="16002000" cy="566142"/>
          </a:xfrm>
          <a:prstGeom prst="roundRect">
            <a:avLst>
              <a:gd name="adj" fmla="val 6730"/>
            </a:avLst>
          </a:prstGeom>
          <a:solidFill>
            <a:srgbClr val="F4F1EA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00175" y="6033046"/>
            <a:ext cx="15967710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b="1" kern="0" spc="-6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제출: </a:t>
            </a:r>
            <a:r>
              <a:rPr lang="en-US" sz="975" kern="0" spc="-6" dirty="0">
                <a:solidFill>
                  <a:srgbClr val="1A6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@scaila/camp-cli assignment submit &lt;id&gt; --file ... </a:t>
            </a:r>
            <a:r>
              <a:rPr lang="en-US" sz="975" kern="0" spc="-6" dirty="0">
                <a:solidFill>
                  <a:srgbClr val="71717A"/>
                </a:solidFill>
                <a:highlight>
                  <a:srgbClr val="F4F1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또는 camp.scaila.kr [과제] 탭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143000" y="6723013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6주 로드맵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43000" y="7008763"/>
            <a:ext cx="16002000" cy="752326"/>
          </a:xfrm>
          <a:prstGeom prst="roundRect">
            <a:avLst>
              <a:gd name="adj" fmla="val 5064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806726" y="7018288"/>
            <a:ext cx="9525" cy="733276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362075" y="7189738"/>
            <a:ext cx="2311301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kern="0" spc="132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01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362075" y="7306398"/>
            <a:ext cx="231130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 선정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816251" y="7018288"/>
            <a:ext cx="2663875" cy="733276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470600" y="7018288"/>
            <a:ext cx="9525" cy="733276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025801" y="7189738"/>
            <a:ext cx="231145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kern="0" spc="132" dirty="0">
                <a:solidFill>
                  <a:srgbClr val="1A6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02 · 오늘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025801" y="7306398"/>
            <a:ext cx="23114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-6" dirty="0">
                <a:solidFill>
                  <a:srgbClr val="1A6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— MVP 골격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80125" y="7018288"/>
            <a:ext cx="2663726" cy="73327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9134326" y="7018288"/>
            <a:ext cx="9525" cy="733276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689675" y="7189738"/>
            <a:ext cx="2311301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kern="0" spc="132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03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6689675" y="7306398"/>
            <a:ext cx="231130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조건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1798201" y="7018288"/>
            <a:ext cx="9525" cy="733276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353401" y="7189738"/>
            <a:ext cx="231145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kern="0" spc="132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04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9353401" y="7306398"/>
            <a:ext cx="23114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제어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4462075" y="7018288"/>
            <a:ext cx="9525" cy="733276"/>
          </a:xfrm>
          <a:prstGeom prst="rect">
            <a:avLst/>
          </a:prstGeom>
          <a:solidFill>
            <a:srgbClr val="E7E5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2017276" y="7189738"/>
            <a:ext cx="231145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kern="0" spc="132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05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12017276" y="7306398"/>
            <a:ext cx="23114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다중화 + 평가 루프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4681150" y="7189738"/>
            <a:ext cx="232082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kern="0" spc="132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06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4681150" y="7306398"/>
            <a:ext cx="2320826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-6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Day &amp; 운영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143000" y="8027789"/>
            <a:ext cx="16002000" cy="839093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 w="9525">
            <a:solidFill>
              <a:srgbClr val="E7E5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152525" y="8037314"/>
            <a:ext cx="47625" cy="820043"/>
          </a:xfrm>
          <a:prstGeom prst="rect">
            <a:avLst/>
          </a:prstGeom>
          <a:solidFill>
            <a:srgbClr val="1A6F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504950" y="8284964"/>
            <a:ext cx="856471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b="1" kern="0" spc="-8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— 3주차: 제약 조건. </a:t>
            </a:r>
            <a:r>
              <a:rPr lang="en-US" sz="1650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찾은 격차를 메우는 5가지 규칙을 </a:t>
            </a:r>
            <a:r>
              <a:rPr lang="en-US" sz="1350" i="1" kern="0" spc="-8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spec.md · CLAUDE.md </a:t>
            </a:r>
            <a:r>
              <a:rPr lang="en-US" sz="1650" i="1" kern="0" spc="-8" dirty="0">
                <a:solidFill>
                  <a:srgbClr val="272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박는다.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2437</Words>
  <Application>Microsoft Macintosh PowerPoint</Application>
  <PresentationFormat>사용자 지정</PresentationFormat>
  <Paragraphs>343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Pretendard</vt:lpstr>
      <vt:lpstr>Arial</vt:lpstr>
      <vt:lpstr>Courier New</vt:lpstr>
      <vt:lpstr>JetBrains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 진규</cp:lastModifiedBy>
  <cp:revision>2</cp:revision>
  <dcterms:created xsi:type="dcterms:W3CDTF">2026-05-12T04:21:47Z</dcterms:created>
  <dcterms:modified xsi:type="dcterms:W3CDTF">2026-05-12T07:56:46Z</dcterms:modified>
</cp:coreProperties>
</file>